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8229600" cx="14630400"/>
  <p:notesSz cx="8229600" cy="14630400"/>
  <p:embeddedFontLst>
    <p:embeddedFont>
      <p:font typeface="Dela Gothic One"/>
      <p:regular r:id="rId29"/>
    </p:embeddedFont>
    <p:embeddedFont>
      <p:font typeface="DM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geCGo38SblLpBo5F70A0n2pPLC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elaGothicOne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DMSans-bold.fntdata"/><Relationship Id="rId30" Type="http://schemas.openxmlformats.org/officeDocument/2006/relationships/font" Target="fonts/DMSans-regular.fntdata"/><Relationship Id="rId11" Type="http://schemas.openxmlformats.org/officeDocument/2006/relationships/slide" Target="slides/slide7.xml"/><Relationship Id="rId33" Type="http://schemas.openxmlformats.org/officeDocument/2006/relationships/font" Target="fonts/DMSans-boldItalic.fntdata"/><Relationship Id="rId10" Type="http://schemas.openxmlformats.org/officeDocument/2006/relationships/slide" Target="slides/slide6.xml"/><Relationship Id="rId32" Type="http://schemas.openxmlformats.org/officeDocument/2006/relationships/font" Target="fonts/DMSans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customschemas.google.com/relationships/presentationmetadata" Target="meta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c21120fa6_0_81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c21120fa6_0_81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c91692cac_0_2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c91692cac_0_2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c91692cac_0_13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c91692cac_0_13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c91692cac_0_24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c91692cac_0_24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c91692cac_0_35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cc91692cac_0_35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b8f5d9fe7_0_0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cb8f5d9fe7_0_0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cb8f5d9fe7_0_3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cb8f5d9fe7_0_3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cb8f5d9fe7_0_6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cb8f5d9fe7_0_6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cb8f5d9fe7_0_9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cb8f5d9fe7_0_9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cb8f5d9fe7_0_12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cb8f5d9fe7_0_12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cb8f5d9fe7_0_15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cb8f5d9fe7_0_15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cc21120fa6_0_0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cc21120fa6_0_0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cc21120fa6_0_7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cc21120fa6_0_7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9560bad49b_0_150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9560bad49b_0_150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" name="Google Shape;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" name="Google Shape;9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2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image" Target="../media/image15.png"/><Relationship Id="rId7" Type="http://schemas.openxmlformats.org/officeDocument/2006/relationships/image" Target="../media/image19.png"/><Relationship Id="rId8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32.png"/><Relationship Id="rId5" Type="http://schemas.openxmlformats.org/officeDocument/2006/relationships/image" Target="../media/image28.png"/><Relationship Id="rId6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36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34.png"/><Relationship Id="rId5" Type="http://schemas.openxmlformats.org/officeDocument/2006/relationships/image" Target="../media/image3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45.jpg"/><Relationship Id="rId5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35.png"/><Relationship Id="rId5" Type="http://schemas.openxmlformats.org/officeDocument/2006/relationships/image" Target="../media/image39.png"/><Relationship Id="rId6" Type="http://schemas.openxmlformats.org/officeDocument/2006/relationships/image" Target="../media/image48.png"/><Relationship Id="rId7" Type="http://schemas.openxmlformats.org/officeDocument/2006/relationships/image" Target="../media/image44.png"/><Relationship Id="rId8" Type="http://schemas.openxmlformats.org/officeDocument/2006/relationships/image" Target="../media/image4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4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46.png"/><Relationship Id="rId5" Type="http://schemas.openxmlformats.org/officeDocument/2006/relationships/image" Target="../media/image41.png"/><Relationship Id="rId6" Type="http://schemas.openxmlformats.org/officeDocument/2006/relationships/image" Target="../media/image4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" title="image-mesh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/>
          <p:nvPr/>
        </p:nvSpPr>
        <p:spPr>
          <a:xfrm>
            <a:off x="758309" y="2363153"/>
            <a:ext cx="7627382" cy="2138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4450"/>
              <a:buFont typeface="Dela Gothic One"/>
              <a:buNone/>
            </a:pPr>
            <a:r>
              <a:rPr lang="en-US" sz="44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SzalkaCinema</a:t>
            </a:r>
            <a:r>
              <a:rPr b="0" i="0" lang="en-US" sz="44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— Online mozijegy foglaló rendszer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758309" y="4826198"/>
            <a:ext cx="7627382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Simon Ádám Bence, </a:t>
            </a: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Szabó Ákos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és Kmetz Dominik János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969600" y="7240900"/>
            <a:ext cx="569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Mátészalkai Szakképzési Centrum Gépészeti Technikum és Kollégium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6" name="Google Shape;56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000" y="7079325"/>
            <a:ext cx="864599" cy="93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" title="upscalemedia-transformed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03450" y="1445525"/>
            <a:ext cx="5093550" cy="5338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" title="image-mesh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/>
          <p:nvPr/>
        </p:nvSpPr>
        <p:spPr>
          <a:xfrm>
            <a:off x="758298" y="2671875"/>
            <a:ext cx="55830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lang="en-US" sz="35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Mi a </a:t>
            </a:r>
            <a:r>
              <a:rPr lang="en-US" sz="35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SzalkaCinema</a:t>
            </a:r>
            <a:r>
              <a:rPr lang="en-US" sz="35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?</a:t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309" y="3675221"/>
            <a:ext cx="1215271" cy="75104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"/>
          <p:cNvSpPr/>
          <p:nvPr/>
        </p:nvSpPr>
        <p:spPr>
          <a:xfrm>
            <a:off x="2244328" y="3675221"/>
            <a:ext cx="2704743" cy="712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Online jegyvásárlás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2244328" y="4517588"/>
            <a:ext cx="2704743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Teljes körű jegyfoglalás weben és mobilon, valós idejű 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előadás választással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" name="Google Shape;6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819" y="3675221"/>
            <a:ext cx="1215271" cy="75104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"/>
          <p:cNvSpPr/>
          <p:nvPr/>
        </p:nvSpPr>
        <p:spPr>
          <a:xfrm>
            <a:off x="6705838" y="3675221"/>
            <a:ext cx="2704743" cy="712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Felhasználói fiókok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705838" y="4517588"/>
            <a:ext cx="2704743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Könnyű regisztráció és bejelentkezés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" name="Google Shape;7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81329" y="3675221"/>
            <a:ext cx="1215271" cy="75104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/>
          <p:nvPr/>
        </p:nvSpPr>
        <p:spPr>
          <a:xfrm>
            <a:off x="11167348" y="3675221"/>
            <a:ext cx="2704743" cy="712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Filmek és műsor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11167348" y="4517588"/>
            <a:ext cx="2704743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Részletes műsor, műfajszűrők és ajánlórendszer.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3" title="image-mesh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" name="Google Shape;8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/>
          <p:nvPr/>
        </p:nvSpPr>
        <p:spPr>
          <a:xfrm>
            <a:off x="758309" y="1859875"/>
            <a:ext cx="4561284" cy="57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lang="en-US" sz="35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 weboldal célja</a:t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758309" y="2754868"/>
            <a:ext cx="7627382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Egyszerűsíteni a mozijegyek vásárlását, csökkenteni a sorban állást, növelni a konverziót és javítani a felhasználói élményt egy elegáns, sötét filmes felülettel.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58309" y="4038719"/>
            <a:ext cx="2398038" cy="2330887"/>
          </a:xfrm>
          <a:prstGeom prst="roundRect">
            <a:avLst>
              <a:gd fmla="val 3904" name="adj"/>
            </a:avLst>
          </a:prstGeom>
          <a:solidFill>
            <a:srgbClr val="740B0B"/>
          </a:solidFill>
          <a:ln cap="flat" cmpd="sng" w="9525">
            <a:solidFill>
              <a:srgbClr val="8D24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982503" y="4262914"/>
            <a:ext cx="2173843" cy="712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Gyors foglalás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982504" y="5105281"/>
            <a:ext cx="1949648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gombnyomás az ülés lefoglalásához.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372922" y="4038719"/>
            <a:ext cx="2398038" cy="2330887"/>
          </a:xfrm>
          <a:prstGeom prst="roundRect">
            <a:avLst>
              <a:gd fmla="val 3904" name="adj"/>
            </a:avLst>
          </a:prstGeom>
          <a:solidFill>
            <a:srgbClr val="740B0B"/>
          </a:solidFill>
          <a:ln cap="flat" cmpd="sng" w="9525">
            <a:solidFill>
              <a:srgbClr val="8D24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3597115" y="4262914"/>
            <a:ext cx="2088067" cy="712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Elérhetőség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597116" y="5105281"/>
            <a:ext cx="1949648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Reszponzív és akadálymentesített felület.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987533" y="4038719"/>
            <a:ext cx="2614611" cy="2330887"/>
          </a:xfrm>
          <a:prstGeom prst="roundRect">
            <a:avLst>
              <a:gd fmla="val 3904" name="adj"/>
            </a:avLst>
          </a:prstGeom>
          <a:solidFill>
            <a:srgbClr val="740B0B"/>
          </a:solidFill>
          <a:ln cap="flat" cmpd="sng" w="9525">
            <a:solidFill>
              <a:srgbClr val="8D24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6211728" y="4262914"/>
            <a:ext cx="2390417" cy="712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Márkaélmény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211729" y="5105281"/>
            <a:ext cx="2173962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Sötét, filmes hangulat, konzisztens arculat.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4" title="image-mesh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758309" y="1096447"/>
            <a:ext cx="7723465" cy="57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lang="en-US" sz="35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Mit tehetnek a felhasználók?</a:t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758309" y="2101871"/>
            <a:ext cx="42462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Előadások böngészése és szűrése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Ülőhely kiválasztása és foglalása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Jegy vásárlás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és jegy kimutatása (e-jegy letöltése)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Fiók regisztrálás és bejelentkezés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Ajánlások és 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film értékelések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300" y="4895187"/>
            <a:ext cx="4488951" cy="3011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79750" y="1917701"/>
            <a:ext cx="5316644" cy="301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60575" y="5180025"/>
            <a:ext cx="2843755" cy="2726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34400" y="4895175"/>
            <a:ext cx="1958205" cy="301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46550" y="5180025"/>
            <a:ext cx="2360075" cy="272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 title="image-mesh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13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/>
          <p:nvPr/>
        </p:nvSpPr>
        <p:spPr>
          <a:xfrm>
            <a:off x="685681" y="538758"/>
            <a:ext cx="8440460" cy="515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56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200"/>
              <a:buFont typeface="Dela Gothic One"/>
              <a:buNone/>
            </a:pPr>
            <a:r>
              <a:rPr lang="en-US" sz="32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Hogyan működik — lépésről lépésre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681" y="1408628"/>
            <a:ext cx="13259038" cy="581608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4627700" y="5676250"/>
            <a:ext cx="21681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lang="en-US" sz="23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Kiválasztás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703931" y="6156054"/>
            <a:ext cx="2003908" cy="546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00"/>
              <a:buFont typeface="DM Sans"/>
              <a:buNone/>
            </a:pPr>
            <a:r>
              <a:rPr lang="en-US" sz="18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Válasszon vetítést és üléseket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1069873" y="5676257"/>
            <a:ext cx="2003908" cy="377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lang="en-US" sz="23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Belépés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1069873" y="6156054"/>
            <a:ext cx="2003908" cy="546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00"/>
              <a:buFont typeface="DM Sans"/>
              <a:buNone/>
            </a:pPr>
            <a:r>
              <a:rPr lang="en-US" sz="18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lang="en-US" sz="18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jegy felmutatása</a:t>
            </a:r>
            <a:r>
              <a:rPr lang="en-US" sz="18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után történik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591126" y="1931362"/>
            <a:ext cx="2003908" cy="377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lang="en-US" sz="23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Keresés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1591126" y="2411160"/>
            <a:ext cx="2003908" cy="273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Keressen filmet vagy időt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7931553" y="1931362"/>
            <a:ext cx="2003908" cy="377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lang="en-US" sz="23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Fizetés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7931553" y="2411160"/>
            <a:ext cx="2003908" cy="819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00"/>
              <a:buFont typeface="DM Sans"/>
              <a:buNone/>
            </a:pPr>
            <a:r>
              <a:rPr lang="en-US" sz="18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Egyszerű online fizetés és helyszíni fizetés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85681" y="7424023"/>
            <a:ext cx="13259038" cy="298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666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500"/>
              <a:buFont typeface="DM Sans"/>
              <a:buNone/>
            </a:pPr>
            <a:r>
              <a:t/>
            </a:r>
            <a:endParaRPr sz="15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6666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500"/>
              <a:buFont typeface="DM Sans"/>
              <a:buNone/>
            </a:pPr>
            <a:r>
              <a:t/>
            </a:r>
            <a:endParaRPr sz="15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6" title="image-mesh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/>
          <p:nvPr/>
        </p:nvSpPr>
        <p:spPr>
          <a:xfrm>
            <a:off x="758309" y="652343"/>
            <a:ext cx="8015288" cy="57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lang="en-US" sz="35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Oldal szerkezete és navigáció</a:t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818793" y="3198614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200"/>
              <a:buFont typeface="Dela Gothic One"/>
              <a:buNone/>
            </a:pPr>
            <a:r>
              <a:rPr lang="en-US" sz="22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Fő navigáció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818793" y="3771424"/>
            <a:ext cx="4125158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Főoldal • Filmek • Vetítések • Jegyek• Bejelentkezés/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Regisztráció</a:t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818793" y="4681418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818793" y="5254228"/>
            <a:ext cx="4125158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540693" y="6688931"/>
            <a:ext cx="8338899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4901" y="1872939"/>
            <a:ext cx="8948501" cy="448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3cc21120fa6_0_81" title="image-mesh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13"/>
            <a:ext cx="14630400" cy="8229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cc21120fa6_0_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3285" y="4481152"/>
            <a:ext cx="3299673" cy="16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cc21120fa6_0_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3499" y="2173699"/>
            <a:ext cx="3299674" cy="166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cc21120fa6_0_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01537" y="4482463"/>
            <a:ext cx="3292714" cy="166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cc21120fa6_0_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94251" y="2189776"/>
            <a:ext cx="3299673" cy="16307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4" name="Google Shape;144;g3cc21120fa6_0_8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5681" y="1408628"/>
            <a:ext cx="13259041" cy="581608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cc21120fa6_0_81"/>
          <p:cNvSpPr/>
          <p:nvPr/>
        </p:nvSpPr>
        <p:spPr>
          <a:xfrm>
            <a:off x="4621875" y="5298550"/>
            <a:ext cx="21681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lang="en-US" sz="23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Filmek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cc21120fa6_0_81"/>
          <p:cNvSpPr/>
          <p:nvPr/>
        </p:nvSpPr>
        <p:spPr>
          <a:xfrm>
            <a:off x="4703931" y="5807304"/>
            <a:ext cx="20040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00"/>
              <a:buFont typeface="DM Sans"/>
              <a:buNone/>
            </a:pPr>
            <a:r>
              <a:rPr lang="en-US" sz="18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Itt találhatóak az eddigi felvett film(30db)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cc21120fa6_0_81"/>
          <p:cNvSpPr/>
          <p:nvPr/>
        </p:nvSpPr>
        <p:spPr>
          <a:xfrm>
            <a:off x="11105823" y="4235657"/>
            <a:ext cx="20040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lang="en-US" sz="23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Jegyek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cc21120fa6_0_81"/>
          <p:cNvSpPr/>
          <p:nvPr/>
        </p:nvSpPr>
        <p:spPr>
          <a:xfrm>
            <a:off x="11105823" y="4751954"/>
            <a:ext cx="20040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00"/>
              <a:buFont typeface="DM Sans"/>
              <a:buNone/>
            </a:pPr>
            <a:r>
              <a:rPr lang="en-US" sz="18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Csak bejelentkezett felhasználó láthatja ahol az eddig megvásárolt jegyek láthatóak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cc21120fa6_0_81"/>
          <p:cNvSpPr/>
          <p:nvPr/>
        </p:nvSpPr>
        <p:spPr>
          <a:xfrm>
            <a:off x="1591126" y="1931362"/>
            <a:ext cx="20040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lang="en-US" sz="23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Főoldal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cc21120fa6_0_81"/>
          <p:cNvSpPr/>
          <p:nvPr/>
        </p:nvSpPr>
        <p:spPr>
          <a:xfrm>
            <a:off x="1591126" y="2411160"/>
            <a:ext cx="20040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Itt található a héten vetitendő filmek napra bontva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cc21120fa6_0_81"/>
          <p:cNvSpPr/>
          <p:nvPr/>
        </p:nvSpPr>
        <p:spPr>
          <a:xfrm>
            <a:off x="7931553" y="1931362"/>
            <a:ext cx="20040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lang="en-US" sz="23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Vetítések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cc21120fa6_0_81"/>
          <p:cNvSpPr/>
          <p:nvPr/>
        </p:nvSpPr>
        <p:spPr>
          <a:xfrm>
            <a:off x="7931553" y="2411160"/>
            <a:ext cx="20040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00"/>
              <a:buFont typeface="DM Sans"/>
              <a:buNone/>
            </a:pPr>
            <a:r>
              <a:rPr lang="en-US" sz="18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Itt található a hét összes vetítése dátum és név megadásával is lehetséges a keresés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cc21120fa6_0_81"/>
          <p:cNvSpPr/>
          <p:nvPr/>
        </p:nvSpPr>
        <p:spPr>
          <a:xfrm>
            <a:off x="685681" y="538758"/>
            <a:ext cx="84405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56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200"/>
              <a:buFont typeface="Dela Gothic One"/>
              <a:buNone/>
            </a:pPr>
            <a:r>
              <a:rPr lang="en-US" sz="32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Oldalak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g3cc91692cac_0_2" title="image-mesh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-13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cc91692cac_0_2"/>
          <p:cNvSpPr/>
          <p:nvPr/>
        </p:nvSpPr>
        <p:spPr>
          <a:xfrm>
            <a:off x="758297" y="1096450"/>
            <a:ext cx="101943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lang="en-US" sz="35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Főoldal</a:t>
            </a:r>
            <a:endParaRPr sz="3550">
              <a:solidFill>
                <a:srgbClr val="FAEBEB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60" name="Google Shape;160;g3cc91692cac_0_2"/>
          <p:cNvSpPr/>
          <p:nvPr/>
        </p:nvSpPr>
        <p:spPr>
          <a:xfrm>
            <a:off x="758300" y="2938400"/>
            <a:ext cx="5622900" cy="28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Az oldal tetején a navigációs 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sáv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található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Ami először 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szembe tűnhet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a felhasználónak a nagy SZALKACINEMA és a 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Jegyfoglalás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most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jegyfoglalás most gombra kattintva 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megnyílik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a vetítések 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fül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ahol könyen elérheti a héten történő összes vetítést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Az oldalon található még az aznapi és a heti választék is de elsősorban mindig a jelenlegi nap jelenik meg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vetítések 14:00-tól 23:45-ig tartanak 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1" name="Google Shape;161;g3cc91692cac_0_2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g3cc91692cac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9900" y="2183026"/>
            <a:ext cx="7654601" cy="386354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cc91692cac_0_2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Az első oldal amit meglát a felhasználó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g3cc91692cac_0_13" title="image-mesh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13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cc91692cac_0_13"/>
          <p:cNvSpPr/>
          <p:nvPr/>
        </p:nvSpPr>
        <p:spPr>
          <a:xfrm>
            <a:off x="758297" y="1096450"/>
            <a:ext cx="101943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lang="en-US" sz="35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Filmek</a:t>
            </a:r>
            <a:endParaRPr sz="3550">
              <a:solidFill>
                <a:srgbClr val="FAEBEB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70" name="Google Shape;170;g3cc91692cac_0_13"/>
          <p:cNvSpPr/>
          <p:nvPr/>
        </p:nvSpPr>
        <p:spPr>
          <a:xfrm>
            <a:off x="758300" y="2938400"/>
            <a:ext cx="5622900" cy="28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Itt van az eddigi összes 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feltöltött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/lejátszot film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30 db film található melyek idővel 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bővülnek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Lehet az oldal méretét 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állítani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annak arányában hogy hány filmet szeretnének látni egy oldalon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Lehetséges műfajra szűrés (pl: Akció, Dráma)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Lehetséges a keresés cím, rendező és leírás alapján is 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filmek alatt található „Részletek” gomb megnyitja a film adatlapját, ahol látható a rendező, hossz, értékelés, megjelenési év és egy rövid leírás. Ha a film a héten műsoron van, az is megjelenik, és innen is lehet foglalni. Az oldal alján értékelés/hozzászólás rész található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g3cc91692cac_0_13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g3cc91692cac_0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35998" y="-2"/>
            <a:ext cx="5994398" cy="3020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cc91692cac_0_13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második oldal amit a látogatók megnézhetnek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g3cc91692cac_0_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04000" y="3020825"/>
            <a:ext cx="6102638" cy="3020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cc91692cac_0_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36000" y="5634434"/>
            <a:ext cx="5994400" cy="2595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g3cc91692cac_0_24" title="image-mesh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-13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cc91692cac_0_24"/>
          <p:cNvSpPr/>
          <p:nvPr/>
        </p:nvSpPr>
        <p:spPr>
          <a:xfrm>
            <a:off x="758297" y="1096450"/>
            <a:ext cx="101943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lang="en-US" sz="35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Vetítések</a:t>
            </a:r>
            <a:endParaRPr sz="3550">
              <a:solidFill>
                <a:srgbClr val="FAEBEB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82" name="Google Shape;182;g3cc91692cac_0_24"/>
          <p:cNvSpPr/>
          <p:nvPr/>
        </p:nvSpPr>
        <p:spPr>
          <a:xfrm>
            <a:off x="758300" y="2938400"/>
            <a:ext cx="5622900" cy="28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Itt találhatóak az egész hétre kiterjedő vetítések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Látható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hogy az adit film melyik 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teremben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lesz a vetítés, mikor kezdődik és hogy hány szabad hely van még benne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Lehetséges a szűrés napra/címre pontosan 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szűrést lehet törölni 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Az oldalon lehetséges a jegyfoglalás és a film részleteinek megnyitására 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Írja hogy az 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adott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héten hány vetítés lesz átlagosan 39 vetítés van egy héten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3" name="Google Shape;183;g3cc91692cac_0_24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g3cc91692cac_0_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4023" y="2245096"/>
            <a:ext cx="7654601" cy="386567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cc91692cac_0_24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harmadik oldal amit a látogatók megnézhetnek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g3cc91692cac_0_35" title="image-mesh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13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cc91692cac_0_35"/>
          <p:cNvSpPr/>
          <p:nvPr/>
        </p:nvSpPr>
        <p:spPr>
          <a:xfrm>
            <a:off x="758297" y="1096450"/>
            <a:ext cx="101943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lang="en-US" sz="35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Jegyek</a:t>
            </a:r>
            <a:endParaRPr sz="3550">
              <a:solidFill>
                <a:srgbClr val="FAEBEB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92" name="Google Shape;192;g3cc91692cac_0_35"/>
          <p:cNvSpPr/>
          <p:nvPr/>
        </p:nvSpPr>
        <p:spPr>
          <a:xfrm>
            <a:off x="758300" y="3224163"/>
            <a:ext cx="5622900" cy="28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Itt találhatóak a megvásárolt jegyek akár visszamenőleg is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Látható a jegy foglalásának 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ideje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percre pontosan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Megjelenik a jegy 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aktivitás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Látható a terem száma és a foglalt szék száma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3" name="Google Shape;193;g3cc91692cac_0_35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cc91692cac_0_35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negyedik oldal amit a látogatók megnézhetnek viszont csak </a:t>
            </a:r>
            <a:r>
              <a:rPr lang="en-US" sz="20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bejelentkezett</a:t>
            </a:r>
            <a:r>
              <a:rPr lang="en-US" sz="20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felhasználók láthatnak</a:t>
            </a:r>
            <a:endParaRPr sz="20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95" name="Google Shape;195;g3cc91692cac_0_35"/>
          <p:cNvPicPr preferRelativeResize="0"/>
          <p:nvPr/>
        </p:nvPicPr>
        <p:blipFill rotWithShape="1">
          <a:blip r:embed="rId4">
            <a:alphaModFix/>
          </a:blip>
          <a:srcRect b="1023" l="0" r="33911" t="29393"/>
          <a:stretch/>
        </p:blipFill>
        <p:spPr>
          <a:xfrm>
            <a:off x="8204250" y="1843250"/>
            <a:ext cx="5435050" cy="488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7" title="image-mesh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7"/>
          <p:cNvSpPr/>
          <p:nvPr/>
        </p:nvSpPr>
        <p:spPr>
          <a:xfrm>
            <a:off x="758309" y="2149197"/>
            <a:ext cx="5806440" cy="57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lang="en-US" sz="35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Design és megjelenés</a:t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758308" y="3044190"/>
            <a:ext cx="7998065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Sötét mozi stílus: egy vörös átmenetes háttér (#1a0a0a/#2d1a1a),Minimalista, nagy fejléc- és 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gomb méretek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785455" y="3970496"/>
            <a:ext cx="487204" cy="563166"/>
          </a:xfrm>
          <a:prstGeom prst="roundRect">
            <a:avLst>
              <a:gd fmla="val 11261" name="adj"/>
            </a:avLst>
          </a:prstGeom>
          <a:solidFill>
            <a:srgbClr val="4D4D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3683" y="4133017"/>
            <a:ext cx="270748" cy="2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7"/>
          <p:cNvSpPr/>
          <p:nvPr/>
        </p:nvSpPr>
        <p:spPr>
          <a:xfrm>
            <a:off x="1570673" y="3981331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Színpaletta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1570673" y="4467463"/>
            <a:ext cx="6815018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#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1a0a0a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, #2d1a1a, #380A0A, #6C0808, #280000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785455" y="5236607"/>
            <a:ext cx="487204" cy="563166"/>
          </a:xfrm>
          <a:prstGeom prst="roundRect">
            <a:avLst>
              <a:gd fmla="val 11261" name="adj"/>
            </a:avLst>
          </a:prstGeom>
          <a:solidFill>
            <a:srgbClr val="4D4D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9" name="Google Shape;20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3683" y="5399127"/>
            <a:ext cx="270748" cy="2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/>
          <p:nvPr/>
        </p:nvSpPr>
        <p:spPr>
          <a:xfrm>
            <a:off x="1570673" y="5247442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Tipográfia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1570673" y="5733574"/>
            <a:ext cx="6815018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Nagy, jól olvasható címsorok és tiszta, egyszerű testszöveg.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05952" y="0"/>
            <a:ext cx="5224449" cy="82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8" title="image-mesh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8"/>
          <p:cNvSpPr/>
          <p:nvPr/>
        </p:nvSpPr>
        <p:spPr>
          <a:xfrm>
            <a:off x="758309" y="1266944"/>
            <a:ext cx="6472238" cy="57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lang="en-US" sz="35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Fejlesztési lehetőségek</a:t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0" name="Google Shape;22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309" y="2270284"/>
            <a:ext cx="1843921" cy="230481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8"/>
          <p:cNvSpPr/>
          <p:nvPr/>
        </p:nvSpPr>
        <p:spPr>
          <a:xfrm>
            <a:off x="758309" y="4845844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Online fizetés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758309" y="5331976"/>
            <a:ext cx="4190762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PayPal és Revolut fizetési lehetőség.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t/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223" name="Google Shape;22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819" y="2270284"/>
            <a:ext cx="1843921" cy="230481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8"/>
          <p:cNvSpPr/>
          <p:nvPr/>
        </p:nvSpPr>
        <p:spPr>
          <a:xfrm>
            <a:off x="5219819" y="4845844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Ülésválasztó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5" name="Google Shape;22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81329" y="2270284"/>
            <a:ext cx="1843921" cy="230481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8"/>
          <p:cNvSpPr/>
          <p:nvPr/>
        </p:nvSpPr>
        <p:spPr>
          <a:xfrm>
            <a:off x="9681329" y="4845844"/>
            <a:ext cx="3530560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Felhasználói profilok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9681329" y="5331976"/>
            <a:ext cx="4190762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Hűségprogram, jegytörténet, beállítások és preferenciák.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758309" y="6615827"/>
            <a:ext cx="131137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5219859" y="5331976"/>
            <a:ext cx="4190700" cy="1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Csoportos foglalás esetén 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kisebb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kedvezmények.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t/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9" title="image-mesh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6" name="Google Shape;23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9"/>
          <p:cNvSpPr/>
          <p:nvPr/>
        </p:nvSpPr>
        <p:spPr>
          <a:xfrm>
            <a:off x="758309" y="1303377"/>
            <a:ext cx="7627500" cy="1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lang="en-US" sz="35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Projekt ütemterv és következő lépések</a:t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758290" y="2768450"/>
            <a:ext cx="468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ela Gothic One"/>
              <a:buNone/>
            </a:pPr>
            <a:r>
              <a:rPr lang="en-US" sz="17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01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758309" y="3105983"/>
            <a:ext cx="3705344" cy="3048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758300" y="3275175"/>
            <a:ext cx="43275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15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 rendszer teljes körűen elkészült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4951084" y="2771425"/>
            <a:ext cx="468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ela Gothic One"/>
              <a:buNone/>
            </a:pPr>
            <a:r>
              <a:rPr lang="en-US" sz="17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951091" y="3108958"/>
            <a:ext cx="3705600" cy="3060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4951091" y="3278146"/>
            <a:ext cx="35745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15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Tesztelés sikeresen lezárva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4951100" y="3638350"/>
            <a:ext cx="37914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Funkcionális, biztonsági és kompatibilitási tesztek elvégezve.</a:t>
            </a:r>
            <a:endParaRPr sz="13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758300" y="4487000"/>
            <a:ext cx="606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ela Gothic One"/>
              <a:buNone/>
            </a:pPr>
            <a:r>
              <a:rPr lang="en-US" sz="17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03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758300" y="4824525"/>
            <a:ext cx="7898400" cy="3060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758300" y="4993725"/>
            <a:ext cx="61488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15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Projekt kész, bemutatásra és használatra alkalmas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758359" y="5321790"/>
            <a:ext cx="76275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3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weboldal stabilan működik, éles használatra kész.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758309" y="6232684"/>
            <a:ext cx="7627382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758300" y="3638338"/>
            <a:ext cx="39447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3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Minden funkció implementálva és működőképes.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10" title="image-mesh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0"/>
          <p:cNvSpPr/>
          <p:nvPr/>
        </p:nvSpPr>
        <p:spPr>
          <a:xfrm>
            <a:off x="6244700" y="2627125"/>
            <a:ext cx="71499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lang="en-US" sz="35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Project Summary</a:t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6030300" y="3522100"/>
            <a:ext cx="8470500" cy="20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●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SzalkaCinema is a PHP/MySQL-based, dark-themed movie ticket booking system with Stripe payment.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●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Users can browse and rate movies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●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Interactive seating reservation is available (maximum 6 seats)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●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Admin interface provided for managing movies, screenings, and users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t/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59" name="Google Shape;25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9549" y="674825"/>
            <a:ext cx="4738850" cy="627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g3cb8f5d9fe7_0_0" title="image-mesh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3cb8f5d9fe7_0_0"/>
          <p:cNvSpPr/>
          <p:nvPr/>
        </p:nvSpPr>
        <p:spPr>
          <a:xfrm>
            <a:off x="758309" y="1096447"/>
            <a:ext cx="77235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lang="en-US" sz="35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Technológiai háttér</a:t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cb8f5d9fe7_0_0"/>
          <p:cNvSpPr/>
          <p:nvPr/>
        </p:nvSpPr>
        <p:spPr>
          <a:xfrm>
            <a:off x="758300" y="2938400"/>
            <a:ext cx="5622900" cy="28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Backend: PHP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Adatbázis: MySQL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Adatbázis kapcsolat: PDO (Prepared Statements)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Frontend: HTML5, CSS3, JavaScript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Fizetési rendszer: Stripe API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Reszponzív kialakítás mobil és asztali eszközökre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7" name="Google Shape;267;g3cb8f5d9fe7_0_0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SzalkaCinema rendszer az alábbi technológiákra épül: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g3cb8f5d9fe7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08702" y="152400"/>
            <a:ext cx="3620975" cy="36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g3cb8f5d9fe7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34675" y="1666450"/>
            <a:ext cx="4151425" cy="415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g3cb8f5d9fe7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61700" y="2938401"/>
            <a:ext cx="2106924" cy="2106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g3cb8f5d9fe7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108100" y="5203577"/>
            <a:ext cx="4204574" cy="176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g3cb8f5d9fe7_0_3" title="image-mesh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3cb8f5d9fe7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77675" y="1726700"/>
            <a:ext cx="5227025" cy="5049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cb8f5d9fe7_0_3"/>
          <p:cNvSpPr/>
          <p:nvPr/>
        </p:nvSpPr>
        <p:spPr>
          <a:xfrm>
            <a:off x="685681" y="538758"/>
            <a:ext cx="84405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56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200"/>
              <a:buFont typeface="Dela Gothic One"/>
              <a:buNone/>
            </a:pPr>
            <a:r>
              <a:rPr lang="en-US" sz="32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Rendszerarchitektúra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9" name="Google Shape;279;g3cb8f5d9fe7_0_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75" y="1522800"/>
            <a:ext cx="9780954" cy="5437624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3cb8f5d9fe7_0_3"/>
          <p:cNvSpPr/>
          <p:nvPr/>
        </p:nvSpPr>
        <p:spPr>
          <a:xfrm>
            <a:off x="2297904" y="5680106"/>
            <a:ext cx="28143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lang="en-US" sz="23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Frontend 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cb8f5d9fe7_0_3"/>
          <p:cNvSpPr/>
          <p:nvPr/>
        </p:nvSpPr>
        <p:spPr>
          <a:xfrm>
            <a:off x="2404421" y="6033231"/>
            <a:ext cx="26013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00"/>
              <a:buFont typeface="DM Sans"/>
              <a:buNone/>
            </a:pPr>
            <a:r>
              <a:rPr lang="en-US" sz="18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HTML, CSS, JS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cb8f5d9fe7_0_3"/>
          <p:cNvSpPr/>
          <p:nvPr/>
        </p:nvSpPr>
        <p:spPr>
          <a:xfrm>
            <a:off x="7108164" y="5680112"/>
            <a:ext cx="26013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lang="en-US" sz="23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MySQL 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cb8f5d9fe7_0_3"/>
          <p:cNvSpPr/>
          <p:nvPr/>
        </p:nvSpPr>
        <p:spPr>
          <a:xfrm>
            <a:off x="7108164" y="6089770"/>
            <a:ext cx="26013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00"/>
              <a:buFont typeface="DM Sans"/>
              <a:buNone/>
            </a:pPr>
            <a:r>
              <a:rPr lang="en-US" sz="18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adatbázis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cb8f5d9fe7_0_3"/>
          <p:cNvSpPr/>
          <p:nvPr/>
        </p:nvSpPr>
        <p:spPr>
          <a:xfrm>
            <a:off x="8987" y="1931324"/>
            <a:ext cx="28143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lang="en-US" sz="23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Felhasználó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cb8f5d9fe7_0_3"/>
          <p:cNvSpPr/>
          <p:nvPr/>
        </p:nvSpPr>
        <p:spPr>
          <a:xfrm>
            <a:off x="143538" y="2418671"/>
            <a:ext cx="26013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cb8f5d9fe7_0_3"/>
          <p:cNvSpPr/>
          <p:nvPr/>
        </p:nvSpPr>
        <p:spPr>
          <a:xfrm>
            <a:off x="4799823" y="1931336"/>
            <a:ext cx="26013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lang="en-US" sz="23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PHP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cb8f5d9fe7_0_3"/>
          <p:cNvSpPr/>
          <p:nvPr/>
        </p:nvSpPr>
        <p:spPr>
          <a:xfrm>
            <a:off x="4790835" y="2418671"/>
            <a:ext cx="26013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00"/>
              <a:buFont typeface="DM Sans"/>
              <a:buNone/>
            </a:pPr>
            <a:r>
              <a:rPr lang="en-US" sz="18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backend feldolgozás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cb8f5d9fe7_0_3"/>
          <p:cNvSpPr/>
          <p:nvPr/>
        </p:nvSpPr>
        <p:spPr>
          <a:xfrm>
            <a:off x="685656" y="1082136"/>
            <a:ext cx="13259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rendszer működési folyamata:</a:t>
            </a:r>
            <a:endParaRPr sz="20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6666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500"/>
              <a:buFont typeface="DM Sans"/>
              <a:buNone/>
            </a:pPr>
            <a:r>
              <a:t/>
            </a:r>
            <a:endParaRPr sz="20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9" name="Google Shape;289;g3cb8f5d9fe7_0_3"/>
          <p:cNvSpPr/>
          <p:nvPr/>
        </p:nvSpPr>
        <p:spPr>
          <a:xfrm>
            <a:off x="11727467" y="5680101"/>
            <a:ext cx="27552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lang="en-US" sz="23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Visszaigazolás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cb8f5d9fe7_0_3"/>
          <p:cNvSpPr/>
          <p:nvPr/>
        </p:nvSpPr>
        <p:spPr>
          <a:xfrm>
            <a:off x="11811911" y="6033231"/>
            <a:ext cx="26013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00"/>
              <a:buFont typeface="DM Sans"/>
              <a:buNone/>
            </a:pPr>
            <a:r>
              <a:rPr lang="en-US" sz="18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E-jegy generálása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cb8f5d9fe7_0_3"/>
          <p:cNvSpPr/>
          <p:nvPr/>
        </p:nvSpPr>
        <p:spPr>
          <a:xfrm>
            <a:off x="9433151" y="1931336"/>
            <a:ext cx="26013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lang="en-US" sz="23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Stripe 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cb8f5d9fe7_0_3"/>
          <p:cNvSpPr/>
          <p:nvPr/>
        </p:nvSpPr>
        <p:spPr>
          <a:xfrm>
            <a:off x="9354270" y="2418671"/>
            <a:ext cx="26013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fizetési rendszer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cb8f5d9fe7_0_3"/>
          <p:cNvSpPr/>
          <p:nvPr/>
        </p:nvSpPr>
        <p:spPr>
          <a:xfrm>
            <a:off x="6523742" y="1931336"/>
            <a:ext cx="26013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t/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g3cb8f5d9fe7_0_6" title="image-mesh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3cb8f5d9fe7_0_6"/>
          <p:cNvSpPr/>
          <p:nvPr/>
        </p:nvSpPr>
        <p:spPr>
          <a:xfrm>
            <a:off x="758309" y="1096447"/>
            <a:ext cx="77235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lang="en-US" sz="35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Adatbázis szerkezet</a:t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cb8f5d9fe7_0_6"/>
          <p:cNvSpPr/>
          <p:nvPr/>
        </p:nvSpPr>
        <p:spPr>
          <a:xfrm>
            <a:off x="758300" y="2938400"/>
            <a:ext cx="5622900" cy="28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users – felhasználói adatok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movies – filmek adatai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screenings – vetítések időpontjai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tickets – foglalások és jegyek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ratings – filmértékelések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Az adatkapcsolatok kulcsokon keresztül biztosítottak.</a:t>
            </a:r>
            <a:endParaRPr sz="18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1" name="Google Shape;301;g3cb8f5d9fe7_0_6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rendszer relációs adatbázist használ.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g3cb8f5d9fe7_0_6" title="unname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9200" y="2055575"/>
            <a:ext cx="7453901" cy="432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g3cb8f5d9fe7_0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42340" y="5807300"/>
            <a:ext cx="760748" cy="57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g3cb8f5d9fe7_0_9" title="image-mesh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3cb8f5d9fe7_0_9"/>
          <p:cNvSpPr/>
          <p:nvPr/>
        </p:nvSpPr>
        <p:spPr>
          <a:xfrm>
            <a:off x="758309" y="1096447"/>
            <a:ext cx="77235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lang="en-US" sz="35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Admin felület funkciói</a:t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cb8f5d9fe7_0_9"/>
          <p:cNvSpPr/>
          <p:nvPr/>
        </p:nvSpPr>
        <p:spPr>
          <a:xfrm>
            <a:off x="758300" y="2938400"/>
            <a:ext cx="5622900" cy="28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Filmek hozzáadását, szerkesztését és törlését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Vetítések létrehozását és módosítását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Felhasználók kezelését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Foglalások ellenőrzését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Kommentek 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ellenőrzését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Rendszeradatok áttekintését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Az admin felület jogosultsághoz kötött.</a:t>
            </a:r>
            <a:endParaRPr sz="18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1" name="Google Shape;311;g3cb8f5d9fe7_0_9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Az admin rendszer lehetővé teszi: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g3cb8f5d9fe7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5400" y="1666450"/>
            <a:ext cx="3539647" cy="2023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g3cb8f5d9fe7_0_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52775" y="1771750"/>
            <a:ext cx="3539649" cy="1918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g3cb8f5d9fe7_0_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46148" y="3816448"/>
            <a:ext cx="3539651" cy="192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g3cb8f5d9fe7_0_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52775" y="5863300"/>
            <a:ext cx="3539650" cy="1893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g3cb8f5d9fe7_0_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55400" y="5863300"/>
            <a:ext cx="3539651" cy="1920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g3cb8f5d9fe7_0_12" title="image-mesh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g3cb8f5d9fe7_0_12"/>
          <p:cNvSpPr/>
          <p:nvPr/>
        </p:nvSpPr>
        <p:spPr>
          <a:xfrm>
            <a:off x="758300" y="1096450"/>
            <a:ext cx="88071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lang="en-US" sz="35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Biztonsági megoldások</a:t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cb8f5d9fe7_0_12"/>
          <p:cNvSpPr/>
          <p:nvPr/>
        </p:nvSpPr>
        <p:spPr>
          <a:xfrm>
            <a:off x="758300" y="2938400"/>
            <a:ext cx="5622900" cy="28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PDO prepared statements az SQL injection ellen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Session alapú hitelesítés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Admin jogosultságellenőrzés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Stripe 3D Secure fizetési védelem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Szerveroldali és kliensoldali adatellenőrzés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Az admin rendszer lehetővé teszi: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4" name="Google Shape;324;g3cb8f5d9fe7_0_12"/>
          <p:cNvSpPr/>
          <p:nvPr/>
        </p:nvSpPr>
        <p:spPr>
          <a:xfrm>
            <a:off x="758308" y="5185415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E5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g3cb8f5d9fe7_0_15" title="image-mesh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3cb8f5d9fe7_0_15"/>
          <p:cNvSpPr/>
          <p:nvPr/>
        </p:nvSpPr>
        <p:spPr>
          <a:xfrm>
            <a:off x="758297" y="1096450"/>
            <a:ext cx="101943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lang="en-US" sz="35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Tesztelés és minőségbiztosítás</a:t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cb8f5d9fe7_0_15"/>
          <p:cNvSpPr/>
          <p:nvPr/>
        </p:nvSpPr>
        <p:spPr>
          <a:xfrm>
            <a:off x="758300" y="2938400"/>
            <a:ext cx="5622900" cy="28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120 teszteset végrehajtva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92,5% sikerességi arány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Funkcionális tesztelés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Biztonsági tesztelés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Kompatibilitási tesztelés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rendszer stabil és éles használatra alkalmas.</a:t>
            </a:r>
            <a:endParaRPr sz="18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2" name="Google Shape;332;g3cb8f5d9fe7_0_15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g3cc21120fa6_0_0" title="image-mesh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3cc21120fa6_0_0"/>
          <p:cNvSpPr/>
          <p:nvPr/>
        </p:nvSpPr>
        <p:spPr>
          <a:xfrm>
            <a:off x="758297" y="1096450"/>
            <a:ext cx="101943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lang="en-US" sz="35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Felhasználói szerepkörök</a:t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cc21120fa6_0_0"/>
          <p:cNvSpPr/>
          <p:nvPr/>
        </p:nvSpPr>
        <p:spPr>
          <a:xfrm>
            <a:off x="758300" y="2938400"/>
            <a:ext cx="5622900" cy="3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Vendég felhasználó: Fiókkal nem rendelkező felhasználó tud keresni a filmek és a vetítésekközt de jegyet venni és helyet 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foglalni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nem tud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Regisztrált felhasználó: Fiókkal rendelkező felhasználó 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ugyanazt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tudja mint a vendég felhasználó csak itt már képes a jegy vételre és a helyfoglalásra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Adminisztrátor: Eléri az admin felületet ahol tudja kezelni a Dashboard, Filmek, Vetítések, Felhasználók, Jegyek és a Kommentek 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kezelését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0" name="Google Shape;340;g3cc21120fa6_0_0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1" name="Google Shape;341;g3cc21120fa6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2825" y="1943800"/>
            <a:ext cx="7847951" cy="4858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g3cc21120fa6_0_7" title="image-mesh-gradi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3cc21120fa6_0_7"/>
          <p:cNvSpPr/>
          <p:nvPr/>
        </p:nvSpPr>
        <p:spPr>
          <a:xfrm>
            <a:off x="758297" y="1096450"/>
            <a:ext cx="101943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lang="en-US" sz="35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Hibakezelés</a:t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cc21120fa6_0_7"/>
          <p:cNvSpPr/>
          <p:nvPr/>
        </p:nvSpPr>
        <p:spPr>
          <a:xfrm>
            <a:off x="758300" y="2938400"/>
            <a:ext cx="5622900" cy="28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Foglalt hely kiválasztásának 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tiltása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Hibás fizetés esetén visszajelzés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Hiányos adatbevitel esetén validáció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9" name="Google Shape;349;g3cc21120fa6_0_7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0" name="Google Shape;350;g3cc21120fa6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8200" y="1455988"/>
            <a:ext cx="119062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g3cc21120fa6_0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15675" y="1324424"/>
            <a:ext cx="3636400" cy="322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g3cc21120fa6_0_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15571" y="3165659"/>
            <a:ext cx="2615900" cy="3913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g39560bad49b_0_150" title="ChatGPT Image 2026. febr. 26. 08_29_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59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9560bad49b_0_150"/>
          <p:cNvSpPr/>
          <p:nvPr/>
        </p:nvSpPr>
        <p:spPr>
          <a:xfrm>
            <a:off x="4057050" y="2988413"/>
            <a:ext cx="6516288" cy="2252772"/>
          </a:xfrm>
          <a:prstGeom prst="flowChartTerminator">
            <a:avLst/>
          </a:prstGeom>
          <a:solidFill>
            <a:srgbClr val="740B0B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FFFFFF"/>
                </a:solidFill>
              </a:rPr>
              <a:t>Köszönjük a figyelmet</a:t>
            </a:r>
            <a:endParaRPr sz="4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-té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2026-02-25T07:53:15Z</dcterms:created>
</cp:coreProperties>
</file>