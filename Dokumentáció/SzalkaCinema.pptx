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8229600" cx="14630400"/>
  <p:notesSz cx="8229600" cy="14630400"/>
  <p:embeddedFontLst>
    <p:embeddedFont>
      <p:font typeface="Dela Gothic One"/>
      <p:regular r:id="rId24"/>
    </p:embeddedFont>
    <p:embeddedFont>
      <p:font typeface="DM Sans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9" roundtripDataSignature="AMtx7mgj6SvKNjHRa1XE4fhBRODFcGlE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font" Target="fonts/DelaGothicOne-regular.fntdata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DMSans-bold.fntdata"/><Relationship Id="rId25" Type="http://schemas.openxmlformats.org/officeDocument/2006/relationships/font" Target="fonts/DMSans-regular.fntdata"/><Relationship Id="rId28" Type="http://schemas.openxmlformats.org/officeDocument/2006/relationships/font" Target="fonts/DMSans-boldItalic.fntdata"/><Relationship Id="rId27" Type="http://schemas.openxmlformats.org/officeDocument/2006/relationships/font" Target="fonts/DMSans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371850" y="1097275"/>
            <a:ext cx="548665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822950" y="6949425"/>
            <a:ext cx="6583675" cy="65836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" name="Google Shape;4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" name="Google Shape;6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c91692cac_0_2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g3cc91692cac_0_2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cc91692cac_0_13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cc91692cac_0_13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cc91692cac_0_24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g3cc91692cac_0_24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c91692cac_0_35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cc91692cac_0_35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" name="Google Shape;150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7" name="Google Shape;167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b8f5d9fe7_0_6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g3cb8f5d9fe7_0_6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cb8f5d9fe7_0_0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g3cb8f5d9fe7_0_0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cb8f5d9fe7_0_9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g3cb8f5d9fe7_0_9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b8f5d9fe7_0_12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g3cb8f5d9fe7_0_12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cb8f5d9fe7_0_15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g3cb8f5d9fe7_0_15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cc21120fa6_0_7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g3cc21120fa6_0_7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d3e01c07c9_0_0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g3d3e01c07c9_0_0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9560bad49b_0_150:notes"/>
          <p:cNvSpPr/>
          <p:nvPr>
            <p:ph idx="2" type="sldImg"/>
          </p:nvPr>
        </p:nvSpPr>
        <p:spPr>
          <a:xfrm>
            <a:off x="1371850" y="1097275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Google Shape;264;g39560bad49b_0_150:notes"/>
          <p:cNvSpPr txBox="1"/>
          <p:nvPr>
            <p:ph idx="1" type="body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7" name="Google Shape;7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" name="Google Shape;9;p12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3" name="Google Shape;13;p13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" name="Google Shape;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7" name="Google Shape;17;p1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9" name="Google Shape;19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1" name="Google Shape;21;p15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" name="Google Shape;23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5" name="Google Shape;25;p16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7" name="Google Shape;27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9" name="Google Shape;29;p17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1" name="Google Shape;3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2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3" name="Google Shape;33;p2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5" name="Google Shape;3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1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7" name="Google Shape;37;p18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9" name="Google Shape;39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1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41" name="Google Shape;41;p19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3" name="Google Shape;43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2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0A0A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45" name="Google Shape;45;p20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28.png"/><Relationship Id="rId6" Type="http://schemas.openxmlformats.org/officeDocument/2006/relationships/image" Target="../media/image19.png"/><Relationship Id="rId7" Type="http://schemas.openxmlformats.org/officeDocument/2006/relationships/image" Target="../media/image13.png"/><Relationship Id="rId8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6.png"/><Relationship Id="rId5" Type="http://schemas.openxmlformats.org/officeDocument/2006/relationships/image" Target="../media/image3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32.png"/><Relationship Id="rId5" Type="http://schemas.openxmlformats.org/officeDocument/2006/relationships/image" Target="../media/image27.png"/><Relationship Id="rId6" Type="http://schemas.openxmlformats.org/officeDocument/2006/relationships/image" Target="../media/image2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5.png"/><Relationship Id="rId5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34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2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30.png"/><Relationship Id="rId5" Type="http://schemas.openxmlformats.org/officeDocument/2006/relationships/image" Target="../media/image22.png"/><Relationship Id="rId6" Type="http://schemas.openxmlformats.org/officeDocument/2006/relationships/image" Target="../media/image38.png"/><Relationship Id="rId7" Type="http://schemas.openxmlformats.org/officeDocument/2006/relationships/image" Target="../media/image43.png"/><Relationship Id="rId8" Type="http://schemas.openxmlformats.org/officeDocument/2006/relationships/image" Target="../media/image3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33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3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image" Target="../media/image4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1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"/>
          <p:cNvSpPr/>
          <p:nvPr/>
        </p:nvSpPr>
        <p:spPr>
          <a:xfrm>
            <a:off x="758309" y="2363153"/>
            <a:ext cx="7627382" cy="2138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4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4450"/>
              <a:buFont typeface="Dela Gothic One"/>
              <a:buNone/>
            </a:pPr>
            <a:r>
              <a:rPr b="0" i="0" lang="en-US" sz="44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SzalkaCinema— Online mozijegy foglaló rendszer</a:t>
            </a:r>
            <a:endParaRPr b="0" i="0" sz="4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1"/>
          <p:cNvSpPr/>
          <p:nvPr/>
        </p:nvSpPr>
        <p:spPr>
          <a:xfrm>
            <a:off x="758309" y="4826198"/>
            <a:ext cx="7627382" cy="1040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Simon Ádám Bence, Szabó Ákos és Kmetz Dominik János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1722450" y="7240900"/>
            <a:ext cx="5699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Mátészalkai Szakképzési Centrum Gépészeti Technikum és Kollégium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8300" y="7079325"/>
            <a:ext cx="864599" cy="938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" title="upscalemedia-transformed.jpe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903450" y="1445525"/>
            <a:ext cx="5093550" cy="53385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 dir="r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3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" name="Google Shape;6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3"/>
          <p:cNvSpPr/>
          <p:nvPr/>
        </p:nvSpPr>
        <p:spPr>
          <a:xfrm>
            <a:off x="758309" y="1859875"/>
            <a:ext cx="4561284" cy="5700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A weboldal célja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758309" y="2754868"/>
            <a:ext cx="7627382" cy="1040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Egyszerűsíteni a mozijegyek vásárlását, csökkenteni a sorban állást, növelni a konverziót és javítani a felhasználói élményt egy elegáns, sötét filmes felülettel.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58309" y="4038719"/>
            <a:ext cx="2398038" cy="2330887"/>
          </a:xfrm>
          <a:prstGeom prst="roundRect">
            <a:avLst>
              <a:gd fmla="val 3904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982503" y="4262914"/>
            <a:ext cx="2173843" cy="712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Gyors foglalás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82504" y="5105281"/>
            <a:ext cx="1949648" cy="693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1 gombnyomás az ülés lefoglalásához.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3372922" y="4038719"/>
            <a:ext cx="2398038" cy="2330887"/>
          </a:xfrm>
          <a:prstGeom prst="roundRect">
            <a:avLst>
              <a:gd fmla="val 3904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3597115" y="4262914"/>
            <a:ext cx="2088067" cy="712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Elérhetőség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597116" y="5105281"/>
            <a:ext cx="1949648" cy="1040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Reszponzív és akadálymentesített felület.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5987533" y="4038719"/>
            <a:ext cx="2614611" cy="2330887"/>
          </a:xfrm>
          <a:prstGeom prst="roundRect">
            <a:avLst>
              <a:gd fmla="val 3904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211728" y="4262914"/>
            <a:ext cx="2390417" cy="712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Márkaélmény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6211729" y="5105281"/>
            <a:ext cx="2173962" cy="1040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Sötét, filmes hangulat, konzisztens arculat.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4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4"/>
          <p:cNvSpPr/>
          <p:nvPr/>
        </p:nvSpPr>
        <p:spPr>
          <a:xfrm>
            <a:off x="758309" y="1096447"/>
            <a:ext cx="7723465" cy="5700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Mit tehetnek a felhasználók?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758309" y="2101871"/>
            <a:ext cx="42462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Előadások böngészése és szűrése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Ülőhely kiválasztása és foglalása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Jegy vásárlás és jegy kimutatása (e-jegy letöltése)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Fiók regisztrálás és bejelentkezés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Ajánlások és film értékelések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8300" y="4895187"/>
            <a:ext cx="4488951" cy="3011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79750" y="1917701"/>
            <a:ext cx="5316644" cy="301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60575" y="5180025"/>
            <a:ext cx="2843755" cy="2726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534400" y="4895175"/>
            <a:ext cx="1958205" cy="301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46550" y="5180025"/>
            <a:ext cx="2360075" cy="272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5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0" y="-13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5"/>
          <p:cNvSpPr/>
          <p:nvPr/>
        </p:nvSpPr>
        <p:spPr>
          <a:xfrm>
            <a:off x="685681" y="538758"/>
            <a:ext cx="8440460" cy="515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56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200"/>
              <a:buFont typeface="Dela Gothic One"/>
              <a:buNone/>
            </a:pPr>
            <a:r>
              <a:rPr b="0" i="0" lang="en-US" sz="32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Hogyan működik — lépésről lépésre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" name="Google Shape;96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681" y="1408628"/>
            <a:ext cx="13259038" cy="581608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5"/>
          <p:cNvSpPr/>
          <p:nvPr/>
        </p:nvSpPr>
        <p:spPr>
          <a:xfrm>
            <a:off x="4627700" y="5676250"/>
            <a:ext cx="2168100" cy="3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531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350"/>
              <a:buFont typeface="Dela Gothic One"/>
              <a:buNone/>
            </a:pPr>
            <a:r>
              <a:rPr b="0" i="0" lang="en-US" sz="23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Kiválasztás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4703931" y="6156054"/>
            <a:ext cx="2003908" cy="546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9444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800"/>
              <a:buFont typeface="DM Sans"/>
              <a:buNone/>
            </a:pPr>
            <a:r>
              <a:rPr b="0" i="0" lang="en-US" sz="1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Válasszon vetítést és üléseket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11069873" y="5676257"/>
            <a:ext cx="2003908" cy="377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531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350"/>
              <a:buFont typeface="Dela Gothic One"/>
              <a:buNone/>
            </a:pPr>
            <a:r>
              <a:rPr b="0" i="0" lang="en-US" sz="23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Belépés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11069873" y="6156054"/>
            <a:ext cx="2003908" cy="546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9444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800"/>
              <a:buFont typeface="DM Sans"/>
              <a:buNone/>
            </a:pPr>
            <a:r>
              <a:rPr b="0" i="0" lang="en-US" sz="1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jegy felmutatása után történik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1591126" y="1931362"/>
            <a:ext cx="2003908" cy="377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531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350"/>
              <a:buFont typeface="Dela Gothic One"/>
              <a:buNone/>
            </a:pPr>
            <a:r>
              <a:rPr b="0" i="0" lang="en-US" sz="23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Keresés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591126" y="2411160"/>
            <a:ext cx="2003908" cy="2732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94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Keressen filmet vagy időt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7931553" y="1931362"/>
            <a:ext cx="2003908" cy="377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531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350"/>
              <a:buFont typeface="Dela Gothic One"/>
              <a:buNone/>
            </a:pPr>
            <a:r>
              <a:rPr b="0" i="0" lang="en-US" sz="23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Fizetés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931553" y="2411160"/>
            <a:ext cx="2003908" cy="819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9444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800"/>
              <a:buFont typeface="DM Sans"/>
              <a:buNone/>
            </a:pPr>
            <a:r>
              <a:rPr b="0" i="0" lang="en-US" sz="1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Egyszerű online fizetés és helyszíni fizetés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685681" y="7424023"/>
            <a:ext cx="13259038" cy="2984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666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500"/>
              <a:buFont typeface="DM Sans"/>
              <a:buNone/>
            </a:pPr>
            <a:r>
              <a:t/>
            </a:r>
            <a:endParaRPr b="0" i="0" sz="15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6666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500"/>
              <a:buFont typeface="DM Sans"/>
              <a:buNone/>
            </a:pPr>
            <a:r>
              <a:t/>
            </a:r>
            <a:endParaRPr b="0" i="0" sz="15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g3cc91692cac_0_2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0" y="-13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3cc91692cac_0_2"/>
          <p:cNvSpPr/>
          <p:nvPr/>
        </p:nvSpPr>
        <p:spPr>
          <a:xfrm>
            <a:off x="758297" y="1096450"/>
            <a:ext cx="101943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Főoldal</a:t>
            </a:r>
            <a:endParaRPr b="0" i="0" sz="3550" u="none" cap="none" strike="noStrike">
              <a:solidFill>
                <a:srgbClr val="FAEBEB"/>
              </a:solidFill>
              <a:latin typeface="Dela Gothic One"/>
              <a:ea typeface="Dela Gothic One"/>
              <a:cs typeface="Dela Gothic One"/>
              <a:sym typeface="Dela Gothic One"/>
            </a:endParaRPr>
          </a:p>
        </p:txBody>
      </p:sp>
      <p:sp>
        <p:nvSpPr>
          <p:cNvPr id="112" name="Google Shape;112;g3cc91692cac_0_2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Az oldal tetején a navigációs sáv található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Ami először szembe tűnhet a felhasználónak a nagy SZALKACINEMA és a Jegyfoglalás most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jegyfoglalás most gombra kattintva megnyílik a vetítések fül ahol könyen elérheti a héten történő összes vetítést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Az oldalon található még az aznapi és a heti választék is de elsősorban mindig a jelenlegi nap jelenik meg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vetítések 14:00-tól 23:45-ig tartanak 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3" name="Google Shape;113;g3cc91692cac_0_2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g3cc91692cac_0_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59900" y="2183026"/>
            <a:ext cx="7654601" cy="3863549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cc91692cac_0_2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Az első oldal amit meglát a felhasználó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g3cc91692cac_0_13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0" y="-13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g3cc91692cac_0_13"/>
          <p:cNvSpPr/>
          <p:nvPr/>
        </p:nvSpPr>
        <p:spPr>
          <a:xfrm>
            <a:off x="758297" y="1096450"/>
            <a:ext cx="101943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Filmek</a:t>
            </a:r>
            <a:endParaRPr b="0" i="0" sz="3550" u="none" cap="none" strike="noStrike">
              <a:solidFill>
                <a:srgbClr val="FAEBEB"/>
              </a:solidFill>
              <a:latin typeface="Dela Gothic One"/>
              <a:ea typeface="Dela Gothic One"/>
              <a:cs typeface="Dela Gothic One"/>
              <a:sym typeface="Dela Gothic One"/>
            </a:endParaRPr>
          </a:p>
        </p:txBody>
      </p:sp>
      <p:sp>
        <p:nvSpPr>
          <p:cNvPr id="122" name="Google Shape;122;g3cc91692cac_0_13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Itt van az eddigi összes feltöltött/lejátszot film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30 db film található melyek idővel bővülnek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Lehet az oldal méretét állítani annak arányában hogy hány filmet szeretnének látni egy oldalon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Lehetséges műfajra szűrés (pl: Akció, Dráma)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Lehetséges a keresés cím, rendező és leírás alapján is 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filmek alatt található „Részletek” gomb megnyitja a film adatlapját, ahol látható a rendező, hossz, értékelés, megjelenési év és egy rövid leírás. Ha a film a héten műsoron van, az is megjelenik, és innen is lehet foglalni. Az oldal alján értékelés/hozzászólás rész található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3" name="Google Shape;123;g3cc91692cac_0_13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g3cc91692cac_0_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35998" y="-2"/>
            <a:ext cx="5994398" cy="3020826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g3cc91692cac_0_13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második oldal amit a látogatók megnézhetnek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g3cc91692cac_0_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04000" y="3020825"/>
            <a:ext cx="6102638" cy="3020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g3cc91692cac_0_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36000" y="5634434"/>
            <a:ext cx="5994400" cy="25951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g3cc91692cac_0_24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0" y="-13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g3cc91692cac_0_24"/>
          <p:cNvSpPr/>
          <p:nvPr/>
        </p:nvSpPr>
        <p:spPr>
          <a:xfrm>
            <a:off x="758297" y="1096450"/>
            <a:ext cx="101943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Vetítések</a:t>
            </a:r>
            <a:endParaRPr b="0" i="0" sz="3550" u="none" cap="none" strike="noStrike">
              <a:solidFill>
                <a:srgbClr val="FAEBEB"/>
              </a:solidFill>
              <a:latin typeface="Dela Gothic One"/>
              <a:ea typeface="Dela Gothic One"/>
              <a:cs typeface="Dela Gothic One"/>
              <a:sym typeface="Dela Gothic One"/>
            </a:endParaRPr>
          </a:p>
        </p:txBody>
      </p:sp>
      <p:sp>
        <p:nvSpPr>
          <p:cNvPr id="134" name="Google Shape;134;g3cc91692cac_0_24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Itt találhatóak az egész hétre kiterjedő vetítések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Látható hogy az adit film melyik teremben lesz a vetítés, mikor kezdődik és hogy hány szabad hely van még benne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Lehetséges a szűrés napra/címre pontosan 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szűrést lehet törölni 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Az oldalon lehetséges a jegyfoglalás és a film részleteinek megnyitására 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Írja hogy az adott héten hány vetítés lesz átlagosan 39 vetítés van egy héten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5" name="Google Shape;135;g3cc91692cac_0_24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g3cc91692cac_0_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44023" y="2245096"/>
            <a:ext cx="7654601" cy="3865672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g3cc91692cac_0_24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harmadik oldal amit a látogatók megnézhetnek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g3cc91692cac_0_35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0" y="-13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g3cc91692cac_0_35"/>
          <p:cNvSpPr/>
          <p:nvPr/>
        </p:nvSpPr>
        <p:spPr>
          <a:xfrm>
            <a:off x="758297" y="1096450"/>
            <a:ext cx="101943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Jegyek</a:t>
            </a:r>
            <a:endParaRPr b="0" i="0" sz="3550" u="none" cap="none" strike="noStrike">
              <a:solidFill>
                <a:srgbClr val="FAEBEB"/>
              </a:solidFill>
              <a:latin typeface="Dela Gothic One"/>
              <a:ea typeface="Dela Gothic One"/>
              <a:cs typeface="Dela Gothic One"/>
              <a:sym typeface="Dela Gothic One"/>
            </a:endParaRPr>
          </a:p>
        </p:txBody>
      </p:sp>
      <p:sp>
        <p:nvSpPr>
          <p:cNvPr id="144" name="Google Shape;144;g3cc91692cac_0_35"/>
          <p:cNvSpPr/>
          <p:nvPr/>
        </p:nvSpPr>
        <p:spPr>
          <a:xfrm>
            <a:off x="758300" y="3224163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Itt találhatóak a megvásárolt jegyek akár visszamenőleg is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Látható a jegy foglalásának ideje percre pontosan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Megjelenik a jegy aktivitás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Látható a terem száma és a foglalt szék száma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g3cc91692cac_0_35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cc91692cac_0_35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negyedik oldal amit a látogatók megnézhetnek viszont csak bejelentkezett felhasználók láthatnak</a:t>
            </a:r>
            <a:endParaRPr b="0" i="0" sz="20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7" name="Google Shape;147;g3cc91692cac_0_35"/>
          <p:cNvPicPr preferRelativeResize="0"/>
          <p:nvPr/>
        </p:nvPicPr>
        <p:blipFill rotWithShape="1">
          <a:blip r:embed="rId4">
            <a:alphaModFix/>
          </a:blip>
          <a:srcRect b="1023" l="0" r="33911" t="29393"/>
          <a:stretch/>
        </p:blipFill>
        <p:spPr>
          <a:xfrm>
            <a:off x="8204250" y="1843250"/>
            <a:ext cx="5435050" cy="4884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7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7"/>
          <p:cNvSpPr/>
          <p:nvPr/>
        </p:nvSpPr>
        <p:spPr>
          <a:xfrm>
            <a:off x="758309" y="2149197"/>
            <a:ext cx="5806440" cy="5700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Design és megjelenés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758308" y="3044190"/>
            <a:ext cx="7998065" cy="693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Sötét mozi stílus: egy vörös átmenetes háttér (#1a0a0a/#2d1a1a),Minimalista, nagy fejléc- és gomb méretek.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785455" y="3970496"/>
            <a:ext cx="487204" cy="563166"/>
          </a:xfrm>
          <a:prstGeom prst="roundRect">
            <a:avLst>
              <a:gd fmla="val 11261" name="adj"/>
            </a:avLst>
          </a:prstGeom>
          <a:solidFill>
            <a:srgbClr val="4D4D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57" name="Google Shape;15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3683" y="4133017"/>
            <a:ext cx="270748" cy="21657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7"/>
          <p:cNvSpPr/>
          <p:nvPr/>
        </p:nvSpPr>
        <p:spPr>
          <a:xfrm>
            <a:off x="1570673" y="3981331"/>
            <a:ext cx="2850713" cy="356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Színpaletta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1570673" y="4467463"/>
            <a:ext cx="6815018" cy="346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#1a0a0a, #2d1a1a, #380A0A, #6C0808, #280000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785455" y="5236607"/>
            <a:ext cx="487204" cy="563166"/>
          </a:xfrm>
          <a:prstGeom prst="roundRect">
            <a:avLst>
              <a:gd fmla="val 11261" name="adj"/>
            </a:avLst>
          </a:prstGeom>
          <a:solidFill>
            <a:srgbClr val="4D4D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1" name="Google Shape;16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3683" y="5399127"/>
            <a:ext cx="270748" cy="21657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7"/>
          <p:cNvSpPr/>
          <p:nvPr/>
        </p:nvSpPr>
        <p:spPr>
          <a:xfrm>
            <a:off x="1570673" y="5247442"/>
            <a:ext cx="2850713" cy="356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Tipográfia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1570673" y="5733574"/>
            <a:ext cx="6815018" cy="346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Nagy, jól olvasható címsorok és tiszta, egyszerű testszöveg.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05952" y="0"/>
            <a:ext cx="5224449" cy="822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8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8"/>
          <p:cNvSpPr/>
          <p:nvPr/>
        </p:nvSpPr>
        <p:spPr>
          <a:xfrm>
            <a:off x="758309" y="1266944"/>
            <a:ext cx="6472238" cy="5700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Fejlesztési lehetőségek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2" name="Google Shape;17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8309" y="2270284"/>
            <a:ext cx="1843921" cy="2304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8"/>
          <p:cNvSpPr/>
          <p:nvPr/>
        </p:nvSpPr>
        <p:spPr>
          <a:xfrm>
            <a:off x="758309" y="4845844"/>
            <a:ext cx="2850713" cy="356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Online fizetés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758309" y="5331976"/>
            <a:ext cx="4190762" cy="1040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PayPal és Revolut fizetési lehetőség.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120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descr="preencoded.png" id="175" name="Google Shape;175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19819" y="2270284"/>
            <a:ext cx="1843921" cy="2304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8"/>
          <p:cNvSpPr/>
          <p:nvPr/>
        </p:nvSpPr>
        <p:spPr>
          <a:xfrm>
            <a:off x="5219819" y="4845844"/>
            <a:ext cx="2850713" cy="356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Ülésválasztó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7" name="Google Shape;177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81329" y="2270284"/>
            <a:ext cx="1843921" cy="2304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8"/>
          <p:cNvSpPr/>
          <p:nvPr/>
        </p:nvSpPr>
        <p:spPr>
          <a:xfrm>
            <a:off x="9681329" y="4845844"/>
            <a:ext cx="3530560" cy="356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Felhasználói profilok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9681329" y="5331976"/>
            <a:ext cx="4190762" cy="693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Hűségprogram, jegytörténet, beállítások és preferenciák.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758309" y="6615827"/>
            <a:ext cx="13113782" cy="346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219859" y="5331976"/>
            <a:ext cx="4190700" cy="10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Csoportos foglalás esetén kisebb kedvezmények.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120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g3cb8f5d9fe7_0_6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cb8f5d9fe7_0_6"/>
          <p:cNvSpPr/>
          <p:nvPr/>
        </p:nvSpPr>
        <p:spPr>
          <a:xfrm>
            <a:off x="758309" y="1096447"/>
            <a:ext cx="77235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Adatbázis szerkezet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g3cb8f5d9fe7_0_6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users – felhasználói adatok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movies – filmek adatai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screenings – vetítések időpontjai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tickets – foglalások és jegyek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lang="en-US" sz="17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comments </a:t>
            </a: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– </a:t>
            </a:r>
            <a:r>
              <a:rPr lang="en-US" sz="17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hozzászólások</a:t>
            </a:r>
            <a:endParaRPr sz="1700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lang="en-US" sz="17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payments - fizetési adatok</a:t>
            </a:r>
            <a:endParaRPr sz="1700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Az adatkapcsolatok kulcsokon keresztül biztosítottak.</a:t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9" name="Google Shape;189;g3cb8f5d9fe7_0_6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rendszer relációs adatbázist használ.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g3cb8f5d9fe7_0_6" title="Gemini_Generated_Image_2yjw6e2yjw6e2yj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51673" y="1249563"/>
            <a:ext cx="6572974" cy="5907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g3cb8f5d9fe7_0_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083888" y="6636238"/>
            <a:ext cx="542925" cy="4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 dir="r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0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0"/>
          <p:cNvSpPr/>
          <p:nvPr/>
        </p:nvSpPr>
        <p:spPr>
          <a:xfrm>
            <a:off x="6244700" y="2627125"/>
            <a:ext cx="71499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Project Summary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6030300" y="3522100"/>
            <a:ext cx="8470500" cy="20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36550" lvl="0" marL="4572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●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SzalkaCinema is a PHP/MySQL-based, dark-themed movie ticket booking system with Stripe payment.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6550" lvl="0" marL="4572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●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Users can browse and rate movies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6550" lvl="0" marL="4572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●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Interactive seating reservation is available (maximum 6 seats)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6550" lvl="0" marL="4572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●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Admin interface provided for managing movies, screenings, and users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0" name="Google Shape;200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9549" y="674825"/>
            <a:ext cx="4738850" cy="627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g3cb8f5d9fe7_0_0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g3cb8f5d9fe7_0_0"/>
          <p:cNvSpPr/>
          <p:nvPr/>
        </p:nvSpPr>
        <p:spPr>
          <a:xfrm>
            <a:off x="758309" y="1096447"/>
            <a:ext cx="77235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Technológiai háttér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g3cb8f5d9fe7_0_0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Backend: PHP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Adatbázis: MySQL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Adatbázis kapcsolat: PDO (Prepared Statements)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Frontend: HTML5, CSS3, JavaScript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Fizetési rendszer: Stripe API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Reszponzív kialakítás mobil és asztali eszközökre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8" name="Google Shape;208;g3cb8f5d9fe7_0_0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SzalkaCinema rendszer az alábbi technológiákra épül: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g3cb8f5d9fe7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08702" y="152400"/>
            <a:ext cx="3620975" cy="36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g3cb8f5d9fe7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34675" y="1666450"/>
            <a:ext cx="4151425" cy="415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g3cb8f5d9fe7_0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861700" y="2938401"/>
            <a:ext cx="2106924" cy="2106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g3cb8f5d9fe7_0_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08100" y="5203577"/>
            <a:ext cx="4204574" cy="1764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 dir="r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g3cb8f5d9fe7_0_9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g3cb8f5d9fe7_0_9"/>
          <p:cNvSpPr/>
          <p:nvPr/>
        </p:nvSpPr>
        <p:spPr>
          <a:xfrm>
            <a:off x="758309" y="1096447"/>
            <a:ext cx="77235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Admin felület funkciói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g3cb8f5d9fe7_0_9"/>
          <p:cNvSpPr/>
          <p:nvPr/>
        </p:nvSpPr>
        <p:spPr>
          <a:xfrm>
            <a:off x="758300" y="2938400"/>
            <a:ext cx="5622900" cy="33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Filmek hozzáadását, szerkesztését és törlését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Vetítések létrehozását és módosítását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Felhasználók kezelését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Foglalások ellenőrzését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Kommentek ellenőrzését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Rendszeradatok áttekintését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Az admin felület jogosultsághoz kötött. Sql-ben is mód</a:t>
            </a:r>
            <a:r>
              <a:rPr lang="en-US" sz="18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osítás történik</a:t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0" name="Google Shape;220;g3cb8f5d9fe7_0_9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Az admin rendszer lehetővé teszi: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" name="Google Shape;221;g3cb8f5d9fe7_0_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55400" y="1666450"/>
            <a:ext cx="3539647" cy="2023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g3cb8f5d9fe7_0_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52775" y="1771750"/>
            <a:ext cx="3539649" cy="19180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g3cb8f5d9fe7_0_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46148" y="3816448"/>
            <a:ext cx="3539651" cy="19202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g3cb8f5d9fe7_0_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52775" y="5863300"/>
            <a:ext cx="3539650" cy="18933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g3cb8f5d9fe7_0_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055400" y="5863300"/>
            <a:ext cx="3539651" cy="19208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 dir="r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g3cb8f5d9fe7_0_12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3cb8f5d9fe7_0_12"/>
          <p:cNvSpPr/>
          <p:nvPr/>
        </p:nvSpPr>
        <p:spPr>
          <a:xfrm>
            <a:off x="758300" y="1096450"/>
            <a:ext cx="88071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Biztonsági megoldások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g3cb8f5d9fe7_0_12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PDO prepared statements az SQL injection ellen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Session alapú hitelesítés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Admin jogosultságellenőrzés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Stripe 3D Secure fizetési védelem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Szerveroldali és kliensoldali adatellenőrzés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g3cb8f5d9fe7_0_15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g3cb8f5d9fe7_0_15"/>
          <p:cNvSpPr/>
          <p:nvPr/>
        </p:nvSpPr>
        <p:spPr>
          <a:xfrm>
            <a:off x="758297" y="1096450"/>
            <a:ext cx="101943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Tesztelés és minőségbiztosítás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g3cb8f5d9fe7_0_15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120 teszteset végrehajtva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92,5% sikerességi arány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Funkcionális tesztelés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Biztonsági tesztelés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Kompatibilitási tesztelés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rendszer stabil és éles használatra alkalmas.</a:t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g3cb8f5d9fe7_0_15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 dir="r"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3cc21120fa6_0_7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3cc21120fa6_0_7"/>
          <p:cNvSpPr/>
          <p:nvPr/>
        </p:nvSpPr>
        <p:spPr>
          <a:xfrm>
            <a:off x="758297" y="1096450"/>
            <a:ext cx="101943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b="0" i="0" lang="en-US" sz="3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Hibakezelés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g3cc21120fa6_0_7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Foglalt hely kiválasztásának tiltása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Hibás fizetés esetén visszajelzés</a:t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42900" lvl="0" marL="34290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700"/>
              <a:buFont typeface="DM Sans"/>
              <a:buChar char="•"/>
            </a:pPr>
            <a:r>
              <a:rPr b="0" i="0" lang="en-US" sz="17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Hiányos adatbevitel esetén validáció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8" name="Google Shape;248;g3cc21120fa6_0_7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" name="Google Shape;249;g3cc21120fa6_0_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15675" y="4615288"/>
            <a:ext cx="1190625" cy="134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g3cc21120fa6_0_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515675" y="1324424"/>
            <a:ext cx="3636400" cy="322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g3cc21120fa6_0_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15571" y="1324434"/>
            <a:ext cx="2615900" cy="39138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g3cc21120fa6_0_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28938" y="6027625"/>
            <a:ext cx="7724775" cy="44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 dir="r"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g3d3e01c07c9_0_0" title="image-mesh-gradien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10800000">
            <a:off x="0" y="0"/>
            <a:ext cx="14630400" cy="8229626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g3d3e01c07c9_0_0"/>
          <p:cNvSpPr/>
          <p:nvPr/>
        </p:nvSpPr>
        <p:spPr>
          <a:xfrm>
            <a:off x="758297" y="1096450"/>
            <a:ext cx="101943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352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50"/>
              <a:buFont typeface="Dela Gothic One"/>
              <a:buNone/>
            </a:pPr>
            <a:r>
              <a:rPr lang="en-US" sz="355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Reszponzivitás</a:t>
            </a:r>
            <a:endParaRPr b="0" i="0" sz="3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g3d3e01c07c9_0_0"/>
          <p:cNvSpPr/>
          <p:nvPr/>
        </p:nvSpPr>
        <p:spPr>
          <a:xfrm>
            <a:off x="758300" y="2938400"/>
            <a:ext cx="5622900" cy="28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E5E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0" name="Google Shape;260;g3d3e01c07c9_0_0"/>
          <p:cNvSpPr/>
          <p:nvPr/>
        </p:nvSpPr>
        <p:spPr>
          <a:xfrm>
            <a:off x="758308" y="2245090"/>
            <a:ext cx="7998000" cy="6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88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1" name="Google Shape;261;g3d3e01c07c9_0_0" title="mockup-all-fram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66375" y="2245100"/>
            <a:ext cx="10097625" cy="534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g39560bad49b_0_150" title="ChatGPT Image 2026. febr. 26. 08_29_1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4630400" cy="8229599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g39560bad49b_0_150"/>
          <p:cNvSpPr/>
          <p:nvPr/>
        </p:nvSpPr>
        <p:spPr>
          <a:xfrm>
            <a:off x="4057050" y="2988413"/>
            <a:ext cx="6516288" cy="2252772"/>
          </a:xfrm>
          <a:prstGeom prst="flowChartTerminator">
            <a:avLst/>
          </a:prstGeom>
          <a:solidFill>
            <a:srgbClr val="740B0B"/>
          </a:solidFill>
          <a:ln cap="flat" cmpd="sng" w="9525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0" i="0" lang="en-US" sz="4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Köszönjük a figyelmet</a:t>
            </a:r>
            <a:endParaRPr b="0" i="0" sz="45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>
    <p:push dir="r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-té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2026-02-25T07:53:15Z</dcterms:created>
</cp:coreProperties>
</file>